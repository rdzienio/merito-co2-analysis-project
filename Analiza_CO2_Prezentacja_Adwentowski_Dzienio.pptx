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71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E9F3"/>
    <a:srgbClr val="D9EFD7"/>
    <a:srgbClr val="FEECD9"/>
    <a:srgbClr val="EDE3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EBA088-9008-5C1A-FA02-5517ECC72A1B}" v="103" dt="2026-06-11T23:17:25.178"/>
    <p1510:client id="{8C5D06C8-51C0-A8D6-9872-580BC91A4A8D}" v="347" dt="2026-06-12T21:26:30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C88EF-495C-4460-BAAD-7C9983818C5E}" type="datetimeFigureOut"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AE8460-A04E-4729-BB0D-82A577C5115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3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Celem projektu była analiza emisji CO₂ oraz zużycia energii na świecie.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Dane </a:t>
            </a:r>
            <a:r>
              <a:rPr lang="en-US" dirty="0" err="1"/>
              <a:t>pochodzą</a:t>
            </a:r>
            <a:r>
              <a:rPr lang="en-US" dirty="0"/>
              <a:t> z </a:t>
            </a:r>
            <a:r>
              <a:rPr lang="en-US" dirty="0" err="1"/>
              <a:t>otwartego</a:t>
            </a:r>
            <a:r>
              <a:rPr lang="en-US" dirty="0"/>
              <a:t> </a:t>
            </a:r>
            <a:r>
              <a:rPr lang="en-US" dirty="0" err="1"/>
              <a:t>repozytorium</a:t>
            </a:r>
            <a:r>
              <a:rPr lang="en-US" dirty="0"/>
              <a:t> Our World in Data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obejmują</a:t>
            </a:r>
            <a:r>
              <a:rPr lang="en-US" dirty="0"/>
              <a:t> </a:t>
            </a:r>
            <a:r>
              <a:rPr lang="en-US" dirty="0" err="1"/>
              <a:t>ponad</a:t>
            </a:r>
            <a:r>
              <a:rPr lang="en-US" dirty="0"/>
              <a:t> 50 000 </a:t>
            </a:r>
            <a:r>
              <a:rPr lang="en-US" dirty="0" err="1"/>
              <a:t>rekordów</a:t>
            </a:r>
            <a:r>
              <a:rPr lang="en-US" dirty="0"/>
              <a:t> </a:t>
            </a:r>
            <a:r>
              <a:rPr lang="en-US" dirty="0" err="1"/>
              <a:t>dla</a:t>
            </a:r>
            <a:r>
              <a:rPr lang="en-US" dirty="0"/>
              <a:t> 218 </a:t>
            </a:r>
            <a:r>
              <a:rPr lang="en-US" dirty="0" err="1"/>
              <a:t>krajów</a:t>
            </a:r>
            <a:r>
              <a:rPr lang="en-US" dirty="0"/>
              <a:t>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Źródło</a:t>
            </a:r>
            <a:r>
              <a:rPr lang="en-US" dirty="0"/>
              <a:t> </a:t>
            </a:r>
            <a:r>
              <a:rPr lang="en-US" dirty="0" err="1"/>
              <a:t>danych</a:t>
            </a:r>
            <a:r>
              <a:rPr lang="en-US" dirty="0"/>
              <a:t>: OWID </a:t>
            </a:r>
            <a:r>
              <a:rPr lang="en-US" dirty="0" err="1"/>
              <a:t>zbiera</a:t>
            </a:r>
            <a:r>
              <a:rPr lang="en-US" dirty="0"/>
              <a:t> </a:t>
            </a:r>
            <a:r>
              <a:rPr lang="en-US" dirty="0" err="1"/>
              <a:t>dane</a:t>
            </a:r>
            <a:r>
              <a:rPr lang="en-US" dirty="0"/>
              <a:t> z GCP, BP, IEA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innych</a:t>
            </a:r>
            <a:r>
              <a:rPr lang="en-US" dirty="0"/>
              <a:t> </a:t>
            </a:r>
            <a:r>
              <a:rPr lang="en-US" dirty="0" err="1"/>
              <a:t>instytucji</a:t>
            </a:r>
            <a:r>
              <a:rPr lang="en-US" dirty="0"/>
              <a:t>. </a:t>
            </a:r>
            <a:endParaRPr lang="en-US"/>
          </a:p>
          <a:p>
            <a:r>
              <a:rPr lang="en-US" dirty="0" err="1"/>
              <a:t>Obejmują</a:t>
            </a:r>
            <a:r>
              <a:rPr lang="en-US" dirty="0"/>
              <a:t> </a:t>
            </a:r>
            <a:r>
              <a:rPr lang="en-US" dirty="0" err="1"/>
              <a:t>ponad</a:t>
            </a:r>
            <a:r>
              <a:rPr lang="en-US" dirty="0"/>
              <a:t> 50 000 </a:t>
            </a:r>
            <a:r>
              <a:rPr lang="en-US" dirty="0" err="1"/>
              <a:t>rekordów</a:t>
            </a:r>
            <a:r>
              <a:rPr lang="en-US" dirty="0"/>
              <a:t> </a:t>
            </a:r>
            <a:r>
              <a:rPr lang="en-US" dirty="0" err="1"/>
              <a:t>dla</a:t>
            </a:r>
            <a:r>
              <a:rPr lang="en-US" dirty="0"/>
              <a:t> 218 </a:t>
            </a:r>
            <a:r>
              <a:rPr lang="en-US" dirty="0" err="1"/>
              <a:t>krajów</a:t>
            </a:r>
            <a:r>
              <a:rPr lang="en-US" dirty="0"/>
              <a:t>. </a:t>
            </a:r>
            <a:r>
              <a:rPr lang="en-US" dirty="0" err="1"/>
              <a:t>Zbiór</a:t>
            </a:r>
            <a:r>
              <a:rPr lang="en-US" dirty="0"/>
              <a:t> </a:t>
            </a:r>
            <a:r>
              <a:rPr lang="en-US" dirty="0" err="1"/>
              <a:t>zawiera</a:t>
            </a:r>
            <a:r>
              <a:rPr lang="en-US" dirty="0"/>
              <a:t> 79 </a:t>
            </a:r>
            <a:r>
              <a:rPr lang="en-US" dirty="0" err="1"/>
              <a:t>zmiennych</a:t>
            </a:r>
            <a:r>
              <a:rPr lang="en-US" dirty="0"/>
              <a:t> - </a:t>
            </a:r>
            <a:r>
              <a:rPr lang="en-US" dirty="0" err="1"/>
              <a:t>wybraliśmy</a:t>
            </a:r>
            <a:r>
              <a:rPr lang="en-US" dirty="0"/>
              <a:t> 14 </a:t>
            </a:r>
            <a:r>
              <a:rPr lang="en-US" dirty="0" err="1"/>
              <a:t>kluczowych</a:t>
            </a:r>
            <a:r>
              <a:rPr lang="en-US" dirty="0"/>
              <a:t> do </a:t>
            </a:r>
            <a:r>
              <a:rPr lang="en-US" dirty="0" err="1"/>
              <a:t>analizy</a:t>
            </a:r>
            <a:r>
              <a:rPr lang="en-US" dirty="0"/>
              <a:t>.</a:t>
            </a:r>
          </a:p>
          <a:p>
            <a:r>
              <a:rPr lang="en-US" dirty="0" err="1"/>
              <a:t>Dzięki</a:t>
            </a:r>
            <a:r>
              <a:rPr lang="en-US" dirty="0"/>
              <a:t> </a:t>
            </a:r>
            <a:r>
              <a:rPr lang="en-US" dirty="0" err="1"/>
              <a:t>temu</a:t>
            </a:r>
            <a:r>
              <a:rPr lang="en-US" dirty="0"/>
              <a:t> </a:t>
            </a:r>
            <a:r>
              <a:rPr lang="en-US" dirty="0" err="1"/>
              <a:t>możliwa</a:t>
            </a:r>
            <a:r>
              <a:rPr lang="en-US" dirty="0"/>
              <a:t> </a:t>
            </a:r>
            <a:r>
              <a:rPr lang="en-US" dirty="0" err="1"/>
              <a:t>była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zarówno</a:t>
            </a:r>
            <a:r>
              <a:rPr lang="en-US" dirty="0"/>
              <a:t> </a:t>
            </a:r>
            <a:r>
              <a:rPr lang="en-US" dirty="0" err="1"/>
              <a:t>globalnych</a:t>
            </a:r>
            <a:r>
              <a:rPr lang="en-US" dirty="0"/>
              <a:t> </a:t>
            </a:r>
            <a:r>
              <a:rPr lang="en-US" dirty="0" err="1"/>
              <a:t>trendów</a:t>
            </a:r>
            <a:r>
              <a:rPr lang="en-US" dirty="0"/>
              <a:t>, jak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różnic</a:t>
            </a:r>
            <a:r>
              <a:rPr lang="en-US" dirty="0"/>
              <a:t> </a:t>
            </a:r>
            <a:r>
              <a:rPr lang="en-US" dirty="0" err="1"/>
              <a:t>między</a:t>
            </a:r>
            <a:r>
              <a:rPr lang="en-US" dirty="0"/>
              <a:t> </a:t>
            </a:r>
            <a:r>
              <a:rPr lang="en-US" dirty="0" err="1"/>
              <a:t>krajami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Zwróć</a:t>
            </a:r>
            <a:r>
              <a:rPr lang="en-US" dirty="0"/>
              <a:t> </a:t>
            </a:r>
            <a:r>
              <a:rPr lang="en-US" dirty="0" err="1"/>
              <a:t>uwagę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duży</a:t>
            </a:r>
            <a:r>
              <a:rPr lang="en-US" dirty="0"/>
              <a:t> </a:t>
            </a:r>
            <a:r>
              <a:rPr lang="en-US" dirty="0" err="1"/>
              <a:t>odsetek</a:t>
            </a:r>
            <a:r>
              <a:rPr lang="en-US" dirty="0"/>
              <a:t> </a:t>
            </a:r>
            <a:r>
              <a:rPr lang="en-US" dirty="0" err="1"/>
              <a:t>braków</a:t>
            </a:r>
            <a:r>
              <a:rPr lang="en-US" dirty="0"/>
              <a:t> w </a:t>
            </a:r>
            <a:r>
              <a:rPr lang="en-US" dirty="0" err="1"/>
              <a:t>zmiennych</a:t>
            </a:r>
            <a:r>
              <a:rPr lang="en-US" dirty="0"/>
              <a:t> </a:t>
            </a:r>
            <a:r>
              <a:rPr lang="en-US" dirty="0" err="1"/>
              <a:t>energetycznych</a:t>
            </a:r>
            <a:r>
              <a:rPr lang="en-US" dirty="0"/>
              <a:t> – </a:t>
            </a:r>
            <a:r>
              <a:rPr lang="en-US" dirty="0" err="1"/>
              <a:t>wynikają</a:t>
            </a:r>
            <a:r>
              <a:rPr lang="en-US" dirty="0"/>
              <a:t> </a:t>
            </a:r>
            <a:r>
              <a:rPr lang="en-US" dirty="0" err="1"/>
              <a:t>głównie</a:t>
            </a:r>
            <a:r>
              <a:rPr lang="en-US" dirty="0"/>
              <a:t> z </a:t>
            </a:r>
            <a:r>
              <a:rPr lang="en-US" dirty="0" err="1"/>
              <a:t>ograniczonego</a:t>
            </a:r>
            <a:r>
              <a:rPr lang="en-US" dirty="0"/>
              <a:t> </a:t>
            </a:r>
            <a:r>
              <a:rPr lang="en-US" dirty="0" err="1"/>
              <a:t>raportowania</a:t>
            </a:r>
            <a:r>
              <a:rPr lang="en-US" dirty="0"/>
              <a:t> </a:t>
            </a:r>
            <a:r>
              <a:rPr lang="en-US" dirty="0" err="1"/>
              <a:t>krajów</a:t>
            </a:r>
            <a:r>
              <a:rPr lang="en-US" dirty="0"/>
              <a:t> </a:t>
            </a:r>
            <a:r>
              <a:rPr lang="en-US" dirty="0" err="1"/>
              <a:t>rozwijających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 </a:t>
            </a:r>
            <a:r>
              <a:rPr lang="en-US" dirty="0" err="1"/>
              <a:t>przed</a:t>
            </a:r>
            <a:r>
              <a:rPr lang="en-US" dirty="0"/>
              <a:t> </a:t>
            </a:r>
            <a:r>
              <a:rPr lang="en-US" dirty="0" err="1"/>
              <a:t>rokiem</a:t>
            </a:r>
            <a:r>
              <a:rPr lang="en-US" dirty="0"/>
              <a:t> 2000. Snapshot 2022 to </a:t>
            </a:r>
            <a:r>
              <a:rPr lang="en-US" dirty="0" err="1"/>
              <a:t>przekrojowy</a:t>
            </a:r>
            <a:r>
              <a:rPr lang="en-US" dirty="0"/>
              <a:t> </a:t>
            </a:r>
            <a:r>
              <a:rPr lang="en-US" dirty="0" err="1"/>
              <a:t>zbiór</a:t>
            </a:r>
            <a:r>
              <a:rPr lang="en-US" dirty="0"/>
              <a:t> </a:t>
            </a:r>
            <a:r>
              <a:rPr lang="en-US" dirty="0" err="1"/>
              <a:t>najnowszych</a:t>
            </a:r>
            <a:r>
              <a:rPr lang="en-US" dirty="0"/>
              <a:t> </a:t>
            </a:r>
            <a:r>
              <a:rPr lang="en-US" dirty="0" err="1"/>
              <a:t>kompletnych</a:t>
            </a:r>
            <a:r>
              <a:rPr lang="en-US" dirty="0"/>
              <a:t> </a:t>
            </a:r>
            <a:r>
              <a:rPr lang="en-US" dirty="0" err="1"/>
              <a:t>danych</a:t>
            </a:r>
            <a:r>
              <a:rPr lang="en-US" dirty="0"/>
              <a:t>, a </a:t>
            </a:r>
            <a:r>
              <a:rPr lang="en-US" dirty="0" err="1"/>
              <a:t>liczba</a:t>
            </a:r>
            <a:r>
              <a:rPr lang="en-US" dirty="0"/>
              <a:t> </a:t>
            </a:r>
            <a:r>
              <a:rPr lang="en-US" dirty="0" err="1"/>
              <a:t>krajów</a:t>
            </a:r>
            <a:r>
              <a:rPr lang="en-US" dirty="0"/>
              <a:t> </a:t>
            </a:r>
            <a:r>
              <a:rPr lang="en-US" dirty="0" err="1"/>
              <a:t>różni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 </a:t>
            </a:r>
            <a:r>
              <a:rPr lang="en-US" dirty="0" err="1"/>
              <a:t>zależnie</a:t>
            </a:r>
            <a:r>
              <a:rPr lang="en-US" dirty="0"/>
              <a:t> od </a:t>
            </a:r>
            <a:r>
              <a:rPr lang="en-US" dirty="0" err="1"/>
              <a:t>zestawu</a:t>
            </a:r>
            <a:r>
              <a:rPr lang="en-US" dirty="0"/>
              <a:t> </a:t>
            </a:r>
            <a:r>
              <a:rPr lang="en-US" dirty="0" err="1"/>
              <a:t>wymaganych</a:t>
            </a:r>
            <a:r>
              <a:rPr lang="en-US" dirty="0"/>
              <a:t> </a:t>
            </a:r>
            <a:r>
              <a:rPr lang="en-US" dirty="0" err="1"/>
              <a:t>zmiennych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1F721-B541-E1AA-D2BC-F9D1B1361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6EF43-BB51-BC1A-74AE-9C16B8EDC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24C8E-DC75-795E-F86F-1C233DECB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regresję</a:t>
            </a:r>
            <a:r>
              <a:rPr lang="en-US" dirty="0"/>
              <a:t> do </a:t>
            </a:r>
            <a:r>
              <a:rPr lang="en-US" dirty="0" err="1"/>
              <a:t>analizy</a:t>
            </a:r>
            <a:r>
              <a:rPr lang="en-US" dirty="0"/>
              <a:t> </a:t>
            </a:r>
            <a:r>
              <a:rPr lang="en-US" dirty="0" err="1"/>
              <a:t>trendów</a:t>
            </a:r>
            <a:r>
              <a:rPr lang="en-US" dirty="0"/>
              <a:t>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zależności</a:t>
            </a:r>
            <a:r>
              <a:rPr lang="en-US" dirty="0"/>
              <a:t>,</a:t>
            </a:r>
            <a:br>
              <a:rPr lang="en-US" dirty="0">
                <a:cs typeface="+mn-lt"/>
              </a:rPr>
            </a:br>
            <a:r>
              <a:rPr lang="en-US" dirty="0" err="1"/>
              <a:t>analizę</a:t>
            </a:r>
            <a:r>
              <a:rPr lang="en-US" dirty="0"/>
              <a:t> </a:t>
            </a:r>
            <a:r>
              <a:rPr lang="en-US" dirty="0" err="1"/>
              <a:t>korelacji</a:t>
            </a:r>
            <a:r>
              <a:rPr lang="en-US" dirty="0"/>
              <a:t>,</a:t>
            </a:r>
            <a:br>
              <a:rPr lang="en-US" dirty="0">
                <a:cs typeface="+mn-lt"/>
              </a:rPr>
            </a:br>
            <a:r>
              <a:rPr lang="en-US" dirty="0" err="1"/>
              <a:t>grupowanie</a:t>
            </a:r>
            <a:r>
              <a:rPr lang="en-US" dirty="0"/>
              <a:t> K-Means </a:t>
            </a:r>
            <a:r>
              <a:rPr lang="en-US" dirty="0" err="1"/>
              <a:t>oraz</a:t>
            </a:r>
            <a:r>
              <a:rPr lang="en-US" dirty="0"/>
              <a:t> PCA do </a:t>
            </a:r>
            <a:r>
              <a:rPr lang="en-US" dirty="0" err="1"/>
              <a:t>wizualizacji</a:t>
            </a:r>
            <a:r>
              <a:rPr lang="en-US" dirty="0"/>
              <a:t> </a:t>
            </a:r>
            <a:r>
              <a:rPr lang="en-US" dirty="0" err="1"/>
              <a:t>danych</a:t>
            </a:r>
            <a:r>
              <a:rPr lang="en-US" dirty="0"/>
              <a:t> </a:t>
            </a:r>
            <a:r>
              <a:rPr lang="en-US" dirty="0" err="1"/>
              <a:t>wielowymiarowych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Metody </a:t>
            </a:r>
            <a:r>
              <a:rPr lang="en-US" dirty="0" err="1"/>
              <a:t>zostały</a:t>
            </a:r>
            <a:r>
              <a:rPr lang="en-US" dirty="0"/>
              <a:t> </a:t>
            </a:r>
            <a:r>
              <a:rPr lang="en-US" dirty="0" err="1"/>
              <a:t>dobrane</a:t>
            </a:r>
            <a:r>
              <a:rPr lang="en-US" dirty="0"/>
              <a:t>, aby </a:t>
            </a:r>
            <a:r>
              <a:rPr lang="en-US" dirty="0" err="1"/>
              <a:t>uchwycić</a:t>
            </a:r>
            <a:r>
              <a:rPr lang="en-US" dirty="0"/>
              <a:t> </a:t>
            </a:r>
            <a:r>
              <a:rPr lang="en-US" dirty="0" err="1"/>
              <a:t>zarówno</a:t>
            </a:r>
            <a:r>
              <a:rPr lang="en-US" dirty="0"/>
              <a:t> </a:t>
            </a:r>
            <a:r>
              <a:rPr lang="en-US" dirty="0" err="1"/>
              <a:t>zależności</a:t>
            </a:r>
            <a:r>
              <a:rPr lang="en-US" dirty="0"/>
              <a:t> </a:t>
            </a:r>
            <a:r>
              <a:rPr lang="en-US" dirty="0" err="1"/>
              <a:t>liniowe</a:t>
            </a:r>
            <a:r>
              <a:rPr lang="en-US" dirty="0"/>
              <a:t>, jak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strukturę</a:t>
            </a:r>
            <a:r>
              <a:rPr lang="en-US" dirty="0"/>
              <a:t> </a:t>
            </a:r>
            <a:r>
              <a:rPr lang="en-US" dirty="0" err="1"/>
              <a:t>danych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D9423-9A71-D57F-3E8B-18DBEE879D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14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474BD-A8BF-263C-D1A0-908FCFFE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2819B-320B-AFF7-0A82-83188AEBF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3B0A2-7204-765B-E918-12E024852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Emisje </a:t>
            </a:r>
            <a:r>
              <a:rPr lang="en-US" dirty="0" err="1"/>
              <a:t>systematycznie</a:t>
            </a:r>
            <a:r>
              <a:rPr lang="en-US" dirty="0"/>
              <a:t> </a:t>
            </a:r>
            <a:r>
              <a:rPr lang="en-US" dirty="0" err="1"/>
              <a:t>rosną</a:t>
            </a:r>
            <a:r>
              <a:rPr lang="en-US" dirty="0"/>
              <a:t>, </a:t>
            </a:r>
            <a:r>
              <a:rPr lang="en-US" dirty="0" err="1"/>
              <a:t>mimo</a:t>
            </a:r>
            <a:r>
              <a:rPr lang="en-US" dirty="0"/>
              <a:t> </a:t>
            </a:r>
            <a:r>
              <a:rPr lang="en-US" dirty="0" err="1"/>
              <a:t>krótkotrwałych</a:t>
            </a:r>
            <a:r>
              <a:rPr lang="en-US" dirty="0"/>
              <a:t> </a:t>
            </a:r>
            <a:r>
              <a:rPr lang="en-US" dirty="0" err="1"/>
              <a:t>spadków</a:t>
            </a:r>
            <a:r>
              <a:rPr lang="en-US" dirty="0"/>
              <a:t>, np. w </a:t>
            </a:r>
            <a:r>
              <a:rPr lang="en-US" dirty="0" err="1"/>
              <a:t>czasie</a:t>
            </a:r>
            <a:r>
              <a:rPr lang="en-US" dirty="0"/>
              <a:t> </a:t>
            </a:r>
            <a:r>
              <a:rPr lang="en-US" dirty="0" err="1"/>
              <a:t>kryzysu</a:t>
            </a:r>
            <a:r>
              <a:rPr lang="en-US" dirty="0"/>
              <a:t> </a:t>
            </a:r>
            <a:r>
              <a:rPr lang="en-US" dirty="0" err="1"/>
              <a:t>finansowego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pandemii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Model </a:t>
            </a:r>
            <a:r>
              <a:rPr lang="en-US" dirty="0" err="1"/>
              <a:t>liniowy</a:t>
            </a:r>
            <a:r>
              <a:rPr lang="en-US" dirty="0"/>
              <a:t> </a:t>
            </a:r>
            <a:r>
              <a:rPr lang="en-US" dirty="0" err="1"/>
              <a:t>pokazuje</a:t>
            </a:r>
            <a:r>
              <a:rPr lang="en-US" dirty="0"/>
              <a:t> </a:t>
            </a:r>
            <a:r>
              <a:rPr lang="en-US" dirty="0" err="1"/>
              <a:t>ogólny</a:t>
            </a:r>
            <a:r>
              <a:rPr lang="en-US" dirty="0"/>
              <a:t> </a:t>
            </a:r>
            <a:r>
              <a:rPr lang="en-US" dirty="0" err="1"/>
              <a:t>kierunek</a:t>
            </a:r>
            <a:r>
              <a:rPr lang="en-US" dirty="0"/>
              <a:t> </a:t>
            </a:r>
            <a:r>
              <a:rPr lang="en-US" dirty="0" err="1"/>
              <a:t>wzrostowy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19ECC-A650-AFE3-6D5C-1A221039E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83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Chiny</a:t>
            </a:r>
            <a:r>
              <a:rPr lang="en-US" dirty="0"/>
              <a:t> </a:t>
            </a:r>
            <a:r>
              <a:rPr lang="en-US" dirty="0" err="1"/>
              <a:t>zdominowały</a:t>
            </a:r>
            <a:r>
              <a:rPr lang="en-US" dirty="0"/>
              <a:t> </a:t>
            </a:r>
            <a:r>
              <a:rPr lang="en-US" dirty="0" err="1"/>
              <a:t>zestawienie</a:t>
            </a:r>
            <a:r>
              <a:rPr lang="en-US" dirty="0"/>
              <a:t> — 11 712 Mt to </a:t>
            </a:r>
            <a:r>
              <a:rPr lang="en-US" dirty="0" err="1"/>
              <a:t>prawie</a:t>
            </a:r>
            <a:r>
              <a:rPr lang="en-US" dirty="0"/>
              <a:t> 2,5x </a:t>
            </a:r>
            <a:r>
              <a:rPr lang="en-US" dirty="0" err="1"/>
              <a:t>więcej</a:t>
            </a:r>
            <a:r>
              <a:rPr lang="en-US" dirty="0"/>
              <a:t> </a:t>
            </a:r>
            <a:r>
              <a:rPr lang="en-US" dirty="0" err="1"/>
              <a:t>niż</a:t>
            </a:r>
            <a:r>
              <a:rPr lang="en-US" dirty="0"/>
              <a:t> USA. Indie </a:t>
            </a:r>
            <a:r>
              <a:rPr lang="en-US" dirty="0" err="1"/>
              <a:t>szybko</a:t>
            </a:r>
            <a:r>
              <a:rPr lang="en-US" dirty="0"/>
              <a:t> </a:t>
            </a:r>
            <a:r>
              <a:rPr lang="en-US" dirty="0" err="1"/>
              <a:t>rosną</a:t>
            </a:r>
            <a:r>
              <a:rPr lang="en-US" dirty="0"/>
              <a:t> (3. </a:t>
            </a:r>
            <a:r>
              <a:rPr lang="en-US" dirty="0" err="1"/>
              <a:t>miejsce</a:t>
            </a:r>
            <a:r>
              <a:rPr lang="en-US" dirty="0"/>
              <a:t>).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Regresja</a:t>
            </a:r>
            <a:r>
              <a:rPr lang="en-US" dirty="0"/>
              <a:t> log-log </a:t>
            </a:r>
            <a:r>
              <a:rPr lang="en-US" dirty="0" err="1"/>
              <a:t>sugeruje</a:t>
            </a:r>
            <a:r>
              <a:rPr lang="en-US" dirty="0"/>
              <a:t> </a:t>
            </a:r>
            <a:r>
              <a:rPr lang="en-US" dirty="0" err="1"/>
              <a:t>niemal</a:t>
            </a:r>
            <a:r>
              <a:rPr lang="en-US" dirty="0"/>
              <a:t> </a:t>
            </a:r>
            <a:r>
              <a:rPr lang="en-US" dirty="0" err="1"/>
              <a:t>proporcjonalną</a:t>
            </a:r>
            <a:r>
              <a:rPr lang="en-US" dirty="0"/>
              <a:t> </a:t>
            </a:r>
            <a:r>
              <a:rPr lang="en-US" dirty="0" err="1"/>
              <a:t>zależność</a:t>
            </a:r>
            <a:r>
              <a:rPr lang="en-US" dirty="0"/>
              <a:t> (</a:t>
            </a:r>
            <a:r>
              <a:rPr lang="en-US" dirty="0" err="1"/>
              <a:t>elastyczność</a:t>
            </a:r>
            <a:r>
              <a:rPr lang="en-US" dirty="0"/>
              <a:t> ~1.04). </a:t>
            </a:r>
            <a:r>
              <a:rPr lang="en-US" dirty="0" err="1"/>
              <a:t>Kraje</a:t>
            </a:r>
            <a:r>
              <a:rPr lang="en-US" dirty="0"/>
              <a:t> </a:t>
            </a:r>
            <a:r>
              <a:rPr lang="en-US" dirty="0" err="1"/>
              <a:t>skandynawskie</a:t>
            </a:r>
            <a:r>
              <a:rPr lang="en-US" dirty="0"/>
              <a:t> – </a:t>
            </a:r>
            <a:r>
              <a:rPr lang="en-US" dirty="0" err="1"/>
              <a:t>Norwegia</a:t>
            </a:r>
            <a:r>
              <a:rPr lang="en-US" dirty="0"/>
              <a:t>, </a:t>
            </a:r>
            <a:r>
              <a:rPr lang="en-US" dirty="0" err="1"/>
              <a:t>Szwecja</a:t>
            </a:r>
            <a:r>
              <a:rPr lang="en-US" dirty="0"/>
              <a:t>, Islandia – </a:t>
            </a:r>
            <a:r>
              <a:rPr lang="en-US" dirty="0" err="1"/>
              <a:t>wyraźnie</a:t>
            </a:r>
            <a:r>
              <a:rPr lang="en-US" dirty="0"/>
              <a:t> </a:t>
            </a:r>
            <a:r>
              <a:rPr lang="en-US" dirty="0" err="1"/>
              <a:t>odbiegają</a:t>
            </a:r>
            <a:r>
              <a:rPr lang="en-US" dirty="0"/>
              <a:t> od </a:t>
            </a:r>
            <a:r>
              <a:rPr lang="en-US" dirty="0" err="1"/>
              <a:t>trendu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korzyść</a:t>
            </a:r>
            <a:r>
              <a:rPr lang="en-US" dirty="0"/>
              <a:t>, co </a:t>
            </a:r>
            <a:r>
              <a:rPr lang="en-US" dirty="0" err="1"/>
              <a:t>wynika</a:t>
            </a:r>
            <a:r>
              <a:rPr lang="en-US" dirty="0"/>
              <a:t> z </a:t>
            </a:r>
            <a:r>
              <a:rPr lang="en-US" dirty="0" err="1"/>
              <a:t>dużego</a:t>
            </a:r>
            <a:r>
              <a:rPr lang="en-US" dirty="0"/>
              <a:t> </a:t>
            </a:r>
            <a:r>
              <a:rPr lang="en-US" dirty="0" err="1"/>
              <a:t>udziału</a:t>
            </a:r>
            <a:r>
              <a:rPr lang="en-US" dirty="0"/>
              <a:t> </a:t>
            </a:r>
            <a:r>
              <a:rPr lang="en-US" dirty="0" err="1"/>
              <a:t>energii</a:t>
            </a:r>
            <a:r>
              <a:rPr lang="en-US" dirty="0"/>
              <a:t> </a:t>
            </a:r>
            <a:r>
              <a:rPr lang="en-US" dirty="0" err="1"/>
              <a:t>wodnej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jądrowej</a:t>
            </a:r>
            <a:r>
              <a:rPr lang="en-US" dirty="0"/>
              <a:t>. </a:t>
            </a:r>
            <a:r>
              <a:rPr lang="en-US" dirty="0" err="1"/>
              <a:t>Widzimy</a:t>
            </a:r>
            <a:r>
              <a:rPr lang="en-US" dirty="0"/>
              <a:t> </a:t>
            </a:r>
            <a:r>
              <a:rPr lang="en-US" dirty="0" err="1"/>
              <a:t>ogólną</a:t>
            </a:r>
            <a:r>
              <a:rPr lang="en-US" dirty="0"/>
              <a:t> </a:t>
            </a:r>
            <a:r>
              <a:rPr lang="en-US" dirty="0" err="1"/>
              <a:t>zależność</a:t>
            </a:r>
            <a:r>
              <a:rPr lang="en-US" dirty="0"/>
              <a:t> </a:t>
            </a:r>
            <a:r>
              <a:rPr lang="en-US" dirty="0" err="1"/>
              <a:t>dodatnią</a:t>
            </a:r>
            <a:r>
              <a:rPr lang="en-US" dirty="0"/>
              <a:t> – </a:t>
            </a:r>
            <a:r>
              <a:rPr lang="en-US" dirty="0" err="1"/>
              <a:t>bogatsze</a:t>
            </a:r>
            <a:r>
              <a:rPr lang="en-US" dirty="0"/>
              <a:t> </a:t>
            </a:r>
            <a:r>
              <a:rPr lang="en-US" dirty="0" err="1"/>
              <a:t>kraje</a:t>
            </a:r>
            <a:r>
              <a:rPr lang="en-US" dirty="0"/>
              <a:t> </a:t>
            </a:r>
            <a:r>
              <a:rPr lang="en-US" dirty="0" err="1"/>
              <a:t>emitują</a:t>
            </a:r>
            <a:r>
              <a:rPr lang="en-US" dirty="0"/>
              <a:t> </a:t>
            </a:r>
            <a:r>
              <a:rPr lang="en-US" dirty="0" err="1"/>
              <a:t>więcej</a:t>
            </a:r>
            <a:r>
              <a:rPr lang="en-US" dirty="0"/>
              <a:t>.</a:t>
            </a:r>
          </a:p>
          <a:p>
            <a:r>
              <a:rPr lang="en-US" dirty="0"/>
              <a:t>Polska </a:t>
            </a:r>
            <a:r>
              <a:rPr lang="en-US" dirty="0" err="1"/>
              <a:t>znajduje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 </a:t>
            </a:r>
            <a:r>
              <a:rPr lang="en-US" dirty="0" err="1"/>
              <a:t>bliżej</a:t>
            </a:r>
            <a:r>
              <a:rPr lang="en-US" dirty="0"/>
              <a:t> </a:t>
            </a:r>
            <a:r>
              <a:rPr lang="en-US" dirty="0" err="1"/>
              <a:t>krajów</a:t>
            </a:r>
            <a:r>
              <a:rPr lang="en-US" dirty="0"/>
              <a:t> </a:t>
            </a:r>
            <a:r>
              <a:rPr lang="en-US" dirty="0" err="1"/>
              <a:t>rozwiniętych</a:t>
            </a:r>
            <a:r>
              <a:rPr lang="en-US" dirty="0"/>
              <a:t> </a:t>
            </a:r>
            <a:r>
              <a:rPr lang="en-US" dirty="0" err="1"/>
              <a:t>przemysłowo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Macierz korelacji ujawnia silne powiązania między zmiennymi energetycznymi i emisyjnymi. Warto podkreślić, że korelacja PKB z emisjami nie wyklucza dekarbonizacji – Niemcy czy Dania redukują emisje przy rosnącym PKB.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Dzięki </a:t>
            </a:r>
            <a:r>
              <a:rPr lang="en-US" dirty="0" err="1"/>
              <a:t>grupowaniu</a:t>
            </a:r>
            <a:r>
              <a:rPr lang="en-US" dirty="0"/>
              <a:t> K-Means </a:t>
            </a:r>
            <a:r>
              <a:rPr lang="en-US" dirty="0" err="1"/>
              <a:t>udało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 </a:t>
            </a:r>
            <a:r>
              <a:rPr lang="en-US" dirty="0" err="1"/>
              <a:t>wyróżnić</a:t>
            </a:r>
            <a:r>
              <a:rPr lang="en-US" dirty="0"/>
              <a:t> 4 </a:t>
            </a:r>
            <a:r>
              <a:rPr lang="en-US" dirty="0" err="1"/>
              <a:t>grupy</a:t>
            </a:r>
            <a:r>
              <a:rPr lang="en-US" dirty="0"/>
              <a:t> </a:t>
            </a:r>
            <a:r>
              <a:rPr lang="en-US" dirty="0" err="1"/>
              <a:t>krajów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 err="1"/>
              <a:t>Są</a:t>
            </a:r>
            <a:r>
              <a:rPr lang="en-US" dirty="0"/>
              <a:t> to m.in. </a:t>
            </a:r>
            <a:r>
              <a:rPr lang="en-US" dirty="0" err="1"/>
              <a:t>kraje</a:t>
            </a:r>
            <a:r>
              <a:rPr lang="en-US" dirty="0"/>
              <a:t> </a:t>
            </a:r>
            <a:r>
              <a:rPr lang="en-US" dirty="0" err="1"/>
              <a:t>rozwijające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, </a:t>
            </a:r>
            <a:r>
              <a:rPr lang="en-US" dirty="0" err="1"/>
              <a:t>kraje</a:t>
            </a:r>
            <a:r>
              <a:rPr lang="en-US" dirty="0"/>
              <a:t> </a:t>
            </a:r>
            <a:r>
              <a:rPr lang="en-US" dirty="0" err="1"/>
              <a:t>wysoko</a:t>
            </a:r>
            <a:r>
              <a:rPr lang="en-US" dirty="0"/>
              <a:t> </a:t>
            </a:r>
            <a:r>
              <a:rPr lang="en-US" dirty="0" err="1"/>
              <a:t>rozwinięte</a:t>
            </a:r>
            <a:r>
              <a:rPr lang="en-US" dirty="0"/>
              <a:t>,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kraje</a:t>
            </a:r>
            <a:r>
              <a:rPr lang="en-US" dirty="0"/>
              <a:t> o </a:t>
            </a:r>
            <a:r>
              <a:rPr lang="en-US" dirty="0" err="1"/>
              <a:t>bardzo</a:t>
            </a:r>
            <a:r>
              <a:rPr lang="en-US" dirty="0"/>
              <a:t> </a:t>
            </a:r>
            <a:r>
              <a:rPr lang="en-US" dirty="0" err="1"/>
              <a:t>wysokich</a:t>
            </a:r>
            <a:r>
              <a:rPr lang="en-US" dirty="0"/>
              <a:t> </a:t>
            </a:r>
            <a:r>
              <a:rPr lang="en-US" dirty="0" err="1"/>
              <a:t>emisjach</a:t>
            </a:r>
            <a:r>
              <a:rPr lang="en-US" dirty="0"/>
              <a:t> per capita.</a:t>
            </a:r>
            <a:br>
              <a:rPr lang="en-US" dirty="0">
                <a:cs typeface="+mn-lt"/>
              </a:rPr>
            </a:br>
            <a:r>
              <a:rPr lang="en-US" dirty="0"/>
              <a:t>PCA </a:t>
            </a:r>
            <a:r>
              <a:rPr lang="en-US" dirty="0" err="1"/>
              <a:t>pozwala</a:t>
            </a:r>
            <a:r>
              <a:rPr lang="en-US" dirty="0"/>
              <a:t> </a:t>
            </a:r>
            <a:r>
              <a:rPr lang="en-US" dirty="0" err="1"/>
              <a:t>zobaczyć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grupy</a:t>
            </a:r>
            <a:r>
              <a:rPr lang="en-US" dirty="0"/>
              <a:t> w </a:t>
            </a:r>
            <a:r>
              <a:rPr lang="en-US" dirty="0" err="1"/>
              <a:t>przestrzeni</a:t>
            </a:r>
            <a:r>
              <a:rPr lang="en-US" dirty="0"/>
              <a:t> </a:t>
            </a:r>
            <a:r>
              <a:rPr lang="en-US" dirty="0" err="1"/>
              <a:t>dwuwymiarowej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1E293B"/>
                </a:solidFill>
              </a:rPr>
              <a:t>Chiny</a:t>
            </a:r>
            <a:r>
              <a:rPr lang="en-US" dirty="0">
                <a:solidFill>
                  <a:srgbClr val="1E293B"/>
                </a:solidFill>
              </a:rPr>
              <a:t>: </a:t>
            </a:r>
            <a:r>
              <a:rPr lang="en-US" dirty="0" err="1">
                <a:solidFill>
                  <a:srgbClr val="1E293B"/>
                </a:solidFill>
              </a:rPr>
              <a:t>wzrost</a:t>
            </a:r>
            <a:r>
              <a:rPr lang="en-US" dirty="0">
                <a:solidFill>
                  <a:srgbClr val="1E293B"/>
                </a:solidFill>
              </a:rPr>
              <a:t> o +320% od 1990 · USA: </a:t>
            </a:r>
            <a:r>
              <a:rPr lang="en-US" dirty="0" err="1">
                <a:solidFill>
                  <a:srgbClr val="1E293B"/>
                </a:solidFill>
              </a:rPr>
              <a:t>tendencja</a:t>
            </a:r>
            <a:r>
              <a:rPr lang="en-US" dirty="0">
                <a:solidFill>
                  <a:srgbClr val="1E293B"/>
                </a:solidFill>
              </a:rPr>
              <a:t> </a:t>
            </a:r>
            <a:r>
              <a:rPr lang="en-US" dirty="0" err="1">
                <a:solidFill>
                  <a:srgbClr val="1E293B"/>
                </a:solidFill>
              </a:rPr>
              <a:t>spadkowa</a:t>
            </a:r>
            <a:endParaRPr lang="en-US" dirty="0" err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Chiny mają dominujący udział węgla (ok. 60% emisji). USA i Japonia to bardziej zrównoważony miks ropa/gaz. Niemcy wyróżniają się najniższym absolutnym poziomem emisji z węgla wśród top 6. Cement to ważna składowa emisji przemysłowych (Chiny, Indie).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B07C1-27CC-DFDA-529C-6360DD7F4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B9328-F2A4-44AF-FEF6-4C948AE87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C4B413-B0BC-7638-AEB1-97D94461B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0D810-83B3-4413-33CB-24DA03B6BD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417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globalne</a:t>
            </a:r>
            <a:r>
              <a:rPr lang="en-US" dirty="0"/>
              <a:t> </a:t>
            </a:r>
            <a:r>
              <a:rPr lang="en-US" dirty="0" err="1"/>
              <a:t>emisje</a:t>
            </a:r>
            <a:r>
              <a:rPr lang="en-US" dirty="0"/>
              <a:t> CO₂ </a:t>
            </a:r>
            <a:r>
              <a:rPr lang="en-US" dirty="0" err="1"/>
              <a:t>rosną</a:t>
            </a:r>
            <a:r>
              <a:rPr lang="en-US" dirty="0"/>
              <a:t>,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dirty="0" err="1"/>
              <a:t>istnieje</a:t>
            </a:r>
            <a:r>
              <a:rPr lang="en-US" dirty="0"/>
              <a:t> </a:t>
            </a:r>
            <a:r>
              <a:rPr lang="en-US" dirty="0" err="1"/>
              <a:t>wyraźna</a:t>
            </a:r>
            <a:r>
              <a:rPr lang="en-US" dirty="0"/>
              <a:t> </a:t>
            </a:r>
            <a:r>
              <a:rPr lang="en-US" dirty="0" err="1"/>
              <a:t>zależność</a:t>
            </a:r>
            <a:r>
              <a:rPr lang="en-US" dirty="0"/>
              <a:t> </a:t>
            </a:r>
            <a:r>
              <a:rPr lang="en-US" dirty="0" err="1"/>
              <a:t>między</a:t>
            </a:r>
            <a:r>
              <a:rPr lang="en-US" dirty="0"/>
              <a:t> </a:t>
            </a:r>
            <a:r>
              <a:rPr lang="en-US" dirty="0" err="1"/>
              <a:t>poziomem</a:t>
            </a:r>
            <a:r>
              <a:rPr lang="en-US" dirty="0"/>
              <a:t> </a:t>
            </a:r>
            <a:r>
              <a:rPr lang="en-US" dirty="0" err="1"/>
              <a:t>rozwoju</a:t>
            </a:r>
            <a:r>
              <a:rPr lang="en-US" dirty="0"/>
              <a:t> a </a:t>
            </a:r>
            <a:r>
              <a:rPr lang="en-US" dirty="0" err="1"/>
              <a:t>emisjami</a:t>
            </a:r>
            <a:r>
              <a:rPr lang="en-US" dirty="0"/>
              <a:t>,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dirty="0" err="1"/>
              <a:t>jednak</a:t>
            </a:r>
            <a:r>
              <a:rPr lang="en-US" dirty="0"/>
              <a:t> </a:t>
            </a:r>
            <a:r>
              <a:rPr lang="en-US" dirty="0" err="1"/>
              <a:t>niektóre</a:t>
            </a:r>
            <a:r>
              <a:rPr lang="en-US" dirty="0"/>
              <a:t> </a:t>
            </a:r>
            <a:r>
              <a:rPr lang="en-US" dirty="0" err="1"/>
              <a:t>kraje</a:t>
            </a:r>
            <a:r>
              <a:rPr lang="en-US" dirty="0"/>
              <a:t> </a:t>
            </a:r>
            <a:r>
              <a:rPr lang="en-US" dirty="0" err="1"/>
              <a:t>potrafią</a:t>
            </a:r>
            <a:r>
              <a:rPr lang="en-US" dirty="0"/>
              <a:t> </a:t>
            </a:r>
            <a:r>
              <a:rPr lang="en-US" dirty="0" err="1"/>
              <a:t>ograniczać</a:t>
            </a:r>
            <a:r>
              <a:rPr lang="en-US" dirty="0"/>
              <a:t> </a:t>
            </a:r>
            <a:r>
              <a:rPr lang="en-US" dirty="0" err="1"/>
              <a:t>emisje</a:t>
            </a:r>
            <a:r>
              <a:rPr lang="en-US" dirty="0"/>
              <a:t>, </a:t>
            </a:r>
            <a:r>
              <a:rPr lang="en-US" dirty="0" err="1"/>
              <a:t>mimo</a:t>
            </a:r>
            <a:r>
              <a:rPr lang="en-US" dirty="0"/>
              <a:t> </a:t>
            </a:r>
            <a:r>
              <a:rPr lang="en-US" dirty="0" err="1"/>
              <a:t>wysokiego</a:t>
            </a:r>
            <a:r>
              <a:rPr lang="en-US" dirty="0"/>
              <a:t> PKB.</a:t>
            </a:r>
            <a:br>
              <a:rPr lang="en-US" dirty="0">
                <a:cs typeface="+mn-lt"/>
              </a:rPr>
            </a:br>
            <a:r>
              <a:rPr lang="en-US" dirty="0"/>
              <a:t> Analiza </a:t>
            </a:r>
            <a:r>
              <a:rPr lang="en-US" dirty="0" err="1"/>
              <a:t>pozwala</a:t>
            </a:r>
            <a:r>
              <a:rPr lang="en-US" dirty="0"/>
              <a:t> </a:t>
            </a:r>
            <a:r>
              <a:rPr lang="en-US" dirty="0" err="1"/>
              <a:t>też</a:t>
            </a:r>
            <a:r>
              <a:rPr lang="en-US" dirty="0"/>
              <a:t> </a:t>
            </a:r>
            <a:r>
              <a:rPr lang="en-US" dirty="0" err="1"/>
              <a:t>segmentować</a:t>
            </a:r>
            <a:r>
              <a:rPr lang="en-US" dirty="0"/>
              <a:t> </a:t>
            </a:r>
            <a:r>
              <a:rPr lang="en-US" dirty="0" err="1"/>
              <a:t>kraje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wspierać</a:t>
            </a:r>
            <a:r>
              <a:rPr lang="en-US" dirty="0"/>
              <a:t> </a:t>
            </a:r>
            <a:r>
              <a:rPr lang="en-US" dirty="0" err="1"/>
              <a:t>podejmowanie</a:t>
            </a:r>
            <a:r>
              <a:rPr lang="en-US" dirty="0"/>
              <a:t> </a:t>
            </a:r>
            <a:r>
              <a:rPr lang="en-US" dirty="0" err="1"/>
              <a:t>decyzji</a:t>
            </a:r>
            <a:r>
              <a:rPr lang="en-US" dirty="0"/>
              <a:t> w </a:t>
            </a:r>
            <a:r>
              <a:rPr lang="en-US" dirty="0" err="1"/>
              <a:t>zakresie</a:t>
            </a:r>
            <a:r>
              <a:rPr lang="en-US" dirty="0"/>
              <a:t> </a:t>
            </a:r>
            <a:r>
              <a:rPr lang="en-US" dirty="0" err="1"/>
              <a:t>polityki</a:t>
            </a:r>
            <a:r>
              <a:rPr lang="en-US" dirty="0"/>
              <a:t> </a:t>
            </a:r>
            <a:r>
              <a:rPr lang="en-US" dirty="0" err="1"/>
              <a:t>klimatycznej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Podziękuj prowadzącemu i grupie. Bądź przygotowany na pytania o: dobór k w K-Means (metoda łokcia), interpretację PCA, obsługę braków danych, oraz możliwe rozszerzenia projektu.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 w="12700">
            <a:solidFill>
              <a:srgbClr val="065A82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50" dirty="0">
                <a:solidFill>
                  <a:srgbClr val="FFFFFF"/>
                </a:solidFill>
              </a:rPr>
              <a:t>Analiza emisji CO₂</a:t>
            </a:r>
            <a:endParaRPr lang="en-US" sz="4000" dirty="0"/>
          </a:p>
          <a:p>
            <a:pPr marL="0" indent="0">
              <a:buNone/>
            </a:pPr>
            <a:r>
              <a:rPr lang="en-US" sz="4000" b="1" kern="0" spc="50" dirty="0">
                <a:solidFill>
                  <a:srgbClr val="FFFFFF"/>
                </a:solidFill>
              </a:rPr>
              <a:t>i zużycia energii</a:t>
            </a:r>
            <a:endParaRPr lang="en-US" sz="4000" dirty="0"/>
          </a:p>
          <a:p>
            <a:pPr marL="0" indent="0">
              <a:buNone/>
            </a:pPr>
            <a:r>
              <a:rPr lang="en-US" sz="4000" b="1" kern="0" spc="50" dirty="0">
                <a:solidFill>
                  <a:srgbClr val="FFFFFF"/>
                </a:solidFill>
              </a:rPr>
              <a:t>na świecie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77724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i="1" dirty="0">
                <a:solidFill>
                  <a:srgbClr val="02C39A"/>
                </a:solidFill>
              </a:rPr>
              <a:t>Projekt </a:t>
            </a:r>
            <a:r>
              <a:rPr lang="en-US" sz="1300" i="1" dirty="0" err="1">
                <a:solidFill>
                  <a:srgbClr val="02C39A"/>
                </a:solidFill>
              </a:rPr>
              <a:t>zaliczeniowy</a:t>
            </a:r>
            <a:r>
              <a:rPr lang="en-US" sz="1300" i="1" dirty="0">
                <a:solidFill>
                  <a:srgbClr val="02C39A"/>
                </a:solidFill>
              </a:rPr>
              <a:t> | </a:t>
            </a:r>
            <a:r>
              <a:rPr lang="en-US" sz="1300" i="1" dirty="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Metody </a:t>
            </a:r>
            <a:r>
              <a:rPr lang="en-US" sz="1300" i="1" dirty="0" err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analizy</a:t>
            </a:r>
            <a:r>
              <a:rPr lang="en-US" sz="1300" i="1" dirty="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00" i="1" dirty="0" err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przetwarzania</a:t>
            </a:r>
            <a:r>
              <a:rPr lang="en-US" sz="1300" i="1" dirty="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dirty="0" err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300" i="1" dirty="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dirty="0" err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wizualizacji</a:t>
            </a:r>
            <a:r>
              <a:rPr lang="en-US" sz="1300" i="1" dirty="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dirty="0" err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danych</a:t>
            </a:r>
            <a:endParaRPr lang="en-US" dirty="0" err="1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Dane: Our World in Data · CC BY 4.0 · owid-co2-data.csv</a:t>
            </a:r>
          </a:p>
          <a:p>
            <a:r>
              <a:rPr lang="en-US" sz="1000" dirty="0" err="1">
                <a:solidFill>
                  <a:srgbClr val="64748B"/>
                </a:solidFill>
                <a:ea typeface="Calibri"/>
                <a:cs typeface="Calibri"/>
              </a:rPr>
              <a:t>Autorzy</a:t>
            </a:r>
            <a:r>
              <a:rPr lang="en-US" sz="1000" dirty="0">
                <a:solidFill>
                  <a:srgbClr val="64748B"/>
                </a:solidFill>
                <a:ea typeface="Calibri"/>
                <a:cs typeface="Calibri"/>
              </a:rPr>
              <a:t>: </a:t>
            </a:r>
            <a:r>
              <a:rPr lang="en-US" sz="10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Jakub Adwentowski / Robert Dzienio</a:t>
            </a:r>
          </a:p>
          <a:p>
            <a:endParaRPr lang="en-US" sz="1000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3832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Plan prezentacji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01  Zbiór danych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0120" y="1719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Źródło, struktura, charakterystyka atrybutów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214884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1945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02  Preprocessing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60120" y="24048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Braki danych, filtracja, transformacje, dyskretyzacja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834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28803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03  Analiza danych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960120" y="3090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Korelacja, regresja liniowa, K-Means, PCA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20040" y="352044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5661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04  Wizualizacje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960120" y="3776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9 wykresów — trendy, scatter, heatmapy, klastry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" y="420624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425196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0120" y="4160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05  Wnioski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960120" y="4462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Interpretacja wyników i ograniczenia metod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Etap 1 – Charakterystyka zbioru danych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Our World in Data · owid-co2-data.csv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2024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50 411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rekordów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192024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417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79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6888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atrybutów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192024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417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218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1772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krajów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1325880"/>
            <a:ext cx="1920240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1417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1750–2024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zakres lat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Wybrane atrybuty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182112"/>
          <a:ext cx="8503920" cy="16916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Atrybut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Opis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numeryczny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Łączna emisja CO₂ [Mt]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co2_per_capita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numeryczny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Emisja per capita [t/os.]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gdp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numeryczny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PKB wg PPP (USD 2011)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energy_per_capita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numeryczny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Zużycie energii [kWh/os.]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coal_co2 / oil_co2 / gas_co2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numeryczny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Emisje wg źródeł [Mt]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Etap 2 – Wstępne przetwarzanie danych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🔍 Filtracja agregatów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29844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Usunięto regiony (brak kodu ISO): z 254 → 218 krajów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56232"/>
            <a:ext cx="8595360" cy="502920"/>
          </a:xfrm>
          <a:prstGeom prst="rect">
            <a:avLst/>
          </a:prstGeom>
          <a:solidFill>
            <a:srgbClr val="EE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🗑️ Duplikaty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89280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Brak duplikatów w parze (country, year)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📅 Zakres czasowy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48716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Filtr: lata 1990–2023 → 7 412 rekordów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44952"/>
            <a:ext cx="8595360" cy="502920"/>
          </a:xfrm>
          <a:prstGeom prst="rect">
            <a:avLst/>
          </a:prstGeom>
          <a:solidFill>
            <a:srgbClr val="EE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815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❓ Braki danych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308152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co2_per_capita: 46% braków (głównie małe państwa, lata&lt;1950)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3931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6758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📐 Transformacje log₁₀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67588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GDP per capita i CO₂ per capita → normalizacja rozkładu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233672"/>
            <a:ext cx="8595360" cy="502920"/>
          </a:xfrm>
          <a:prstGeom prst="rect">
            <a:avLst/>
          </a:prstGeom>
          <a:solidFill>
            <a:srgbClr val="EE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2702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🏷️ Dyskretyzacja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427024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4 kategorie emisji: &lt;2t, 2–5t, 5–10t, &gt;10t per capita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821358"/>
            <a:ext cx="8595360" cy="320040"/>
          </a:xfrm>
          <a:prstGeom prst="rect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82135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Snapshot 2022: 164 kraje z kompletnymi danymi  ·  Rozkład: 67 niskie / 49 średnie / 31 wysokie / 17 bardzo wysokie emisje per capita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6D236-97C9-5BEF-BA76-407CA2785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4DD042-A76D-94FA-F7E1-E01987099089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ECA399-CBDC-BB93-4D85-BB7816D871AA}"/>
              </a:ext>
            </a:extLst>
          </p:cNvPr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rgbClr val="FFFFFF"/>
                </a:solidFill>
              </a:rPr>
              <a:t>Etap</a:t>
            </a:r>
            <a:r>
              <a:rPr lang="en-US" sz="2200" b="1" dirty="0">
                <a:solidFill>
                  <a:srgbClr val="FFFFFF"/>
                </a:solidFill>
              </a:rPr>
              <a:t> 3 – Analiza </a:t>
            </a:r>
            <a:r>
              <a:rPr lang="en-US" sz="2200" b="1" dirty="0" err="1">
                <a:solidFill>
                  <a:srgbClr val="FFFFFF"/>
                </a:solidFill>
              </a:rPr>
              <a:t>danych</a:t>
            </a:r>
            <a:r>
              <a:rPr lang="en-US" sz="2200" b="1" dirty="0">
                <a:solidFill>
                  <a:srgbClr val="FFFFFF"/>
                </a:solidFill>
              </a:rPr>
              <a:t>: Metody</a:t>
            </a:r>
            <a:endParaRPr lang="en-US" sz="2200" b="1" dirty="0" err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7818120" y="3977639"/>
            <a:ext cx="1234440" cy="1234440"/>
          </a:xfrm>
          <a:prstGeom prst="ellipse">
            <a:avLst/>
          </a:prstGeom>
          <a:solidFill>
            <a:srgbClr val="DB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662672" y="4389120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733334" y="2231209"/>
            <a:ext cx="7269480" cy="0"/>
          </a:xfrm>
          <a:prstGeom prst="line">
            <a:avLst/>
          </a:prstGeom>
          <a:ln w="28575">
            <a:solidFill>
              <a:srgbClr val="B8D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79054" y="2002609"/>
            <a:ext cx="457200" cy="457200"/>
          </a:xfrm>
          <a:prstGeom prst="ellipse">
            <a:avLst/>
          </a:prstGeom>
          <a:solidFill>
            <a:srgbClr val="02C39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74" y="2642689"/>
            <a:ext cx="1737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000" b="1">
                <a:solidFill>
                  <a:srgbClr val="0B2A45"/>
                </a:solidFill>
                <a:latin typeface="Segoe UI"/>
              </a:rPr>
              <a:t>Regresja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74" y="3054169"/>
            <a:ext cx="173736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50" b="0">
                <a:solidFill>
                  <a:srgbClr val="1E293B"/>
                </a:solidFill>
                <a:latin typeface="Segoe UI"/>
              </a:rPr>
              <a:t>Model zależności CO₂ per capita od PKB per capita.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8470" y="2935297"/>
            <a:ext cx="658368" cy="3200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56494" y="2002609"/>
            <a:ext cx="457200" cy="457200"/>
          </a:xfrm>
          <a:prstGeom prst="ellipse">
            <a:avLst/>
          </a:prstGeom>
          <a:solidFill>
            <a:srgbClr val="1C729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6414" y="2642689"/>
            <a:ext cx="1737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000" b="1">
                <a:solidFill>
                  <a:srgbClr val="0B2A45"/>
                </a:solidFill>
                <a:latin typeface="Segoe UI"/>
              </a:rPr>
              <a:t>Korelacja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6414" y="3054169"/>
            <a:ext cx="173736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50" b="0">
                <a:solidFill>
                  <a:srgbClr val="1E293B"/>
                </a:solidFill>
                <a:latin typeface="Segoe UI"/>
              </a:rPr>
              <a:t>Ocena siły powiązań między emisjami, energią i PKB.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5910" y="2935297"/>
            <a:ext cx="658368" cy="3200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533934" y="2002609"/>
            <a:ext cx="457200" cy="457200"/>
          </a:xfrm>
          <a:prstGeom prst="ellipse">
            <a:avLst/>
          </a:prstGeom>
          <a:solidFill>
            <a:srgbClr val="065A8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3854" y="2642689"/>
            <a:ext cx="1737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000" b="1">
                <a:solidFill>
                  <a:srgbClr val="0B2A45"/>
                </a:solidFill>
                <a:latin typeface="Segoe UI"/>
              </a:rPr>
              <a:t>K-Means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3854" y="3054169"/>
            <a:ext cx="173736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50" b="0">
                <a:solidFill>
                  <a:srgbClr val="1E293B"/>
                </a:solidFill>
                <a:latin typeface="Segoe UI"/>
              </a:rPr>
              <a:t>Segmentacja krajów według profilu emisyjno‑energetycznego.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3350" y="2935297"/>
            <a:ext cx="658368" cy="3200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911374" y="2002609"/>
            <a:ext cx="457200" cy="457200"/>
          </a:xfrm>
          <a:prstGeom prst="ellipse">
            <a:avLst/>
          </a:prstGeom>
          <a:solidFill>
            <a:srgbClr val="02C39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1294" y="2642689"/>
            <a:ext cx="1737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000" b="1">
                <a:solidFill>
                  <a:srgbClr val="0B2A45"/>
                </a:solidFill>
                <a:latin typeface="Segoe UI"/>
              </a:rPr>
              <a:t>PCA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1294" y="3054169"/>
            <a:ext cx="173736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50" b="0">
                <a:solidFill>
                  <a:srgbClr val="1E293B"/>
                </a:solidFill>
                <a:latin typeface="Segoe UI"/>
              </a:rPr>
              <a:t>Redukcja wymiarów i czytelna wizualizacja klastrów.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0790" y="2935297"/>
            <a:ext cx="658368" cy="3200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4553712"/>
            <a:ext cx="8183879" cy="384048"/>
          </a:xfrm>
          <a:prstGeom prst="rect">
            <a:avLst/>
          </a:prstGeom>
          <a:solidFill>
            <a:srgbClr val="DBF6F1"/>
          </a:solidFill>
          <a:ln w="1397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4640580"/>
            <a:ext cx="7818120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>
                <a:solidFill>
                  <a:srgbClr val="0B2A45"/>
                </a:solidFill>
                <a:latin typeface="Segoe UI"/>
              </a:rPr>
              <a:t>Cel etapu: wskazać czynniki wyjaśniające poziom emisji oraz pogrupować kraje.</a:t>
            </a:r>
          </a:p>
        </p:txBody>
      </p:sp>
    </p:spTree>
    <p:extLst>
      <p:ext uri="{BB962C8B-B14F-4D97-AF65-F5344CB8AC3E}">
        <p14:creationId xmlns:p14="http://schemas.microsoft.com/office/powerpoint/2010/main" val="268282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35B4F-790A-6D2A-9BA4-ECD6E8C33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B1BA85-2F66-1045-6096-8EB6355295CC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62AA59-976B-25E0-1310-FFEC42A74C20}"/>
              </a:ext>
            </a:extLst>
          </p:cNvPr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rgbClr val="FFFFFF"/>
                </a:solidFill>
              </a:rPr>
              <a:t>Etap</a:t>
            </a:r>
            <a:r>
              <a:rPr lang="en-US" sz="2200" b="1" dirty="0">
                <a:solidFill>
                  <a:srgbClr val="FFFFFF"/>
                </a:solidFill>
              </a:rPr>
              <a:t> 4 – </a:t>
            </a:r>
            <a:r>
              <a:rPr lang="en-US" sz="2200" b="1" dirty="0" err="1">
                <a:solidFill>
                  <a:srgbClr val="FFFFFF"/>
                </a:solidFill>
              </a:rPr>
              <a:t>Wizualizacje</a:t>
            </a:r>
            <a:r>
              <a:rPr lang="en-US" sz="2200" b="1" dirty="0">
                <a:solidFill>
                  <a:srgbClr val="FFFFFF"/>
                </a:solidFill>
              </a:rPr>
              <a:t>: </a:t>
            </a:r>
            <a:r>
              <a:rPr lang="en-US" sz="2200" b="1" dirty="0" err="1">
                <a:solidFill>
                  <a:srgbClr val="FFFFFF"/>
                </a:solidFill>
              </a:rPr>
              <a:t>Globalny</a:t>
            </a:r>
            <a:r>
              <a:rPr lang="en-US" sz="2200" b="1" dirty="0">
                <a:solidFill>
                  <a:srgbClr val="FFFFFF"/>
                </a:solidFill>
              </a:rPr>
              <a:t> trend </a:t>
            </a:r>
            <a:r>
              <a:rPr lang="en-US" sz="2200" b="1" dirty="0" err="1">
                <a:solidFill>
                  <a:srgbClr val="FFFFFF"/>
                </a:solidFill>
              </a:rPr>
              <a:t>emisji</a:t>
            </a:r>
            <a:r>
              <a:rPr lang="en-US" sz="2200" b="1" dirty="0">
                <a:solidFill>
                  <a:srgbClr val="FFFFFF"/>
                </a:solidFill>
              </a:rPr>
              <a:t> CO2</a:t>
            </a:r>
            <a:endParaRPr lang="en-US" sz="22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4C58F6-B77A-C1BA-9F74-6F31D9853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6304"/>
            <a:ext cx="9144000" cy="411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866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5D1945D-1871-B2D8-3BD8-949FADDB9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14" y="1006928"/>
            <a:ext cx="6965443" cy="413657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rgbClr val="FFFFFF"/>
                </a:solidFill>
              </a:rPr>
              <a:t>Etap</a:t>
            </a:r>
            <a:r>
              <a:rPr lang="en-US" sz="2200" b="1" dirty="0">
                <a:solidFill>
                  <a:srgbClr val="FFFFFF"/>
                </a:solidFill>
              </a:rPr>
              <a:t> 4 – Top 10 </a:t>
            </a:r>
            <a:r>
              <a:rPr lang="en-US" sz="2200" b="1" dirty="0" err="1">
                <a:solidFill>
                  <a:srgbClr val="FFFFFF"/>
                </a:solidFill>
              </a:rPr>
              <a:t>emitentów</a:t>
            </a:r>
            <a:r>
              <a:rPr lang="en-US" sz="2200" b="1" dirty="0">
                <a:solidFill>
                  <a:srgbClr val="FFFFFF"/>
                </a:solidFill>
              </a:rPr>
              <a:t> CO₂ (2022)</a:t>
            </a:r>
            <a:endParaRPr lang="en-US" sz="2200"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283926" y="256917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Chiny odpowiadają za ~31% globalnych emisji.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USA + Chiny = ~44% światowego CO₂.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192486" y="2569029"/>
            <a:ext cx="2850969" cy="640443"/>
          </a:xfrm>
          <a:prstGeom prst="rect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211EA4C-C1CF-B92F-146A-E76C46908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834" y="1006928"/>
            <a:ext cx="5852334" cy="413657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rgbClr val="FFFFFF"/>
                </a:solidFill>
              </a:rPr>
              <a:t>Etap</a:t>
            </a:r>
            <a:r>
              <a:rPr lang="en-US" sz="2200" b="1" dirty="0">
                <a:solidFill>
                  <a:srgbClr val="FFFFFF"/>
                </a:solidFill>
              </a:rPr>
              <a:t> 4 – </a:t>
            </a:r>
            <a:r>
              <a:rPr lang="en-US" sz="2200" b="1" dirty="0" err="1">
                <a:solidFill>
                  <a:srgbClr val="FFFFFF"/>
                </a:solidFill>
              </a:rPr>
              <a:t>Regresja</a:t>
            </a:r>
            <a:r>
              <a:rPr lang="en-US" sz="2200" b="1" dirty="0">
                <a:solidFill>
                  <a:srgbClr val="FFFFFF"/>
                </a:solidFill>
              </a:rPr>
              <a:t>: CO₂ per capita vs PKB per capita</a:t>
            </a:r>
            <a:endParaRPr lang="en-US" sz="22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A9384C2-F955-7ADF-DC8E-A044F9570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87" y="1006929"/>
            <a:ext cx="5120862" cy="413657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rgbClr val="FFFFFF"/>
                </a:solidFill>
              </a:rPr>
              <a:t>Etap</a:t>
            </a:r>
            <a:r>
              <a:rPr lang="en-US" sz="2200" b="1" dirty="0">
                <a:solidFill>
                  <a:srgbClr val="FFFFFF"/>
                </a:solidFill>
              </a:rPr>
              <a:t> 4 – Wizualizacje: Analiza korelacji Pearsona – kluczowe zmienne</a:t>
            </a:r>
            <a:endParaRPr lang="en-US" sz="2200">
              <a:ea typeface="Calibri"/>
              <a:cs typeface="Calibri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212080" y="1325880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303520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</a:rPr>
              <a:t>+0.83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355080" y="1417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CO₂ pc  ↔  Energia pc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55080" y="1783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Im więcej energii zużywa kraj, tym wyższe emisje per capita.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212080" y="2532888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03520" y="26243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C7293"/>
                </a:solidFill>
              </a:rPr>
              <a:t>+0.94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355080" y="26243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1E293B"/>
                </a:solidFill>
              </a:rPr>
              <a:t>GPD  ↔ Oil CO₂ 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355080" y="2990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64748B"/>
                </a:solidFill>
              </a:rPr>
              <a:t>Bogatsze</a:t>
            </a:r>
            <a:r>
              <a:rPr lang="en-US" sz="1000" dirty="0">
                <a:solidFill>
                  <a:srgbClr val="64748B"/>
                </a:solidFill>
              </a:rPr>
              <a:t> </a:t>
            </a:r>
            <a:r>
              <a:rPr lang="en-US" sz="1000" dirty="0" err="1">
                <a:solidFill>
                  <a:srgbClr val="64748B"/>
                </a:solidFill>
              </a:rPr>
              <a:t>kraje</a:t>
            </a:r>
            <a:r>
              <a:rPr lang="en-US" sz="1000" dirty="0">
                <a:solidFill>
                  <a:srgbClr val="64748B"/>
                </a:solidFill>
              </a:rPr>
              <a:t> </a:t>
            </a:r>
            <a:r>
              <a:rPr lang="en-US" sz="1000" dirty="0" err="1">
                <a:solidFill>
                  <a:srgbClr val="64748B"/>
                </a:solidFill>
              </a:rPr>
              <a:t>emitują</a:t>
            </a:r>
            <a:r>
              <a:rPr lang="en-US" sz="1000" dirty="0">
                <a:solidFill>
                  <a:srgbClr val="64748B"/>
                </a:solidFill>
              </a:rPr>
              <a:t> </a:t>
            </a:r>
            <a:r>
              <a:rPr lang="en-US" sz="1000" dirty="0" err="1">
                <a:solidFill>
                  <a:srgbClr val="64748B"/>
                </a:solidFill>
              </a:rPr>
              <a:t>więcej</a:t>
            </a:r>
            <a:r>
              <a:rPr lang="en-US" sz="1000" dirty="0">
                <a:solidFill>
                  <a:srgbClr val="64748B"/>
                </a:solidFill>
              </a:rPr>
              <a:t> CO₂ z ropy.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12080" y="3739896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303520" y="383133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C7293"/>
                </a:solidFill>
              </a:rPr>
              <a:t>+0.95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355080" y="38313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293B"/>
                </a:solidFill>
              </a:rPr>
              <a:t>CO₂  ↔  </a:t>
            </a:r>
            <a:r>
              <a:rPr lang="en-US" sz="1100" b="1">
                <a:solidFill>
                  <a:srgbClr val="1E293B"/>
                </a:solidFill>
              </a:rPr>
              <a:t>Coal CO</a:t>
            </a:r>
            <a:r>
              <a:rPr lang="en-US" sz="1100" b="1" dirty="0">
                <a:solidFill>
                  <a:srgbClr val="1E293B"/>
                </a:solidFill>
              </a:rPr>
              <a:t>₂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55080" y="419709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Węgiel jest głównym napędem łącznych emisji krajowych.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rgbClr val="FFFFFF"/>
                </a:solidFill>
              </a:rPr>
              <a:t>Etap</a:t>
            </a:r>
            <a:r>
              <a:rPr lang="en-US" sz="2200" b="1" dirty="0">
                <a:solidFill>
                  <a:srgbClr val="FFFFFF"/>
                </a:solidFill>
              </a:rPr>
              <a:t> 4 – </a:t>
            </a:r>
            <a:r>
              <a:rPr lang="en-US" sz="2200" b="1" dirty="0" err="1">
                <a:solidFill>
                  <a:srgbClr val="FFFFFF"/>
                </a:solidFill>
              </a:rPr>
              <a:t>Grupowanie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krajów</a:t>
            </a:r>
            <a:r>
              <a:rPr lang="en-US" sz="2200" b="1" dirty="0">
                <a:solidFill>
                  <a:srgbClr val="FFFFFF"/>
                </a:solidFill>
              </a:rPr>
              <a:t> K-Means (k=4) + PCA</a:t>
            </a:r>
            <a:endParaRPr lang="en-US" sz="2200">
              <a:ea typeface="Calibri"/>
              <a:cs typeface="Calibri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531757" y="2233168"/>
            <a:ext cx="384048" cy="384048"/>
          </a:xfrm>
          <a:prstGeom prst="ellipse">
            <a:avLst/>
          </a:prstGeom>
          <a:solidFill>
            <a:srgbClr val="D9EFD7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34677" y="2169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Klaster 1 · 78 krajów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4677" y="2443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Kraje rozwijające się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Niskie emisje, niskie PKB, niskie zużycie energii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31757" y="3256788"/>
            <a:ext cx="384048" cy="384048"/>
          </a:xfrm>
          <a:prstGeom prst="ellipse">
            <a:avLst/>
          </a:prstGeom>
          <a:solidFill>
            <a:srgbClr val="FEECD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34677" y="31927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Klaster 2 · 73 kraje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4677" y="34671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Kraje uprzemysłowione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Średnie emisje, wysokie PKB – UE, Azja Płd.-Wsch.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522686" y="1304979"/>
            <a:ext cx="384048" cy="384048"/>
          </a:xfrm>
          <a:prstGeom prst="ellipse">
            <a:avLst/>
          </a:prstGeom>
          <a:solidFill>
            <a:srgbClr val="D8E9F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25606" y="1240971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Klaster 0 · 3 kraje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25606" y="1515291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Anomalie statystyczne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Bardzo wysokie zużycie energii per capita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22686" y="4315242"/>
            <a:ext cx="384048" cy="384048"/>
          </a:xfrm>
          <a:prstGeom prst="ellipse">
            <a:avLst/>
          </a:prstGeom>
          <a:solidFill>
            <a:srgbClr val="EDE3F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25606" y="425123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Klaster 3 · 10 krajów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25606" y="452555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Petrostate / bogate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Bardzo wysokie emisje i PKB per capita (Gulf, Australia)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D23E2F-390D-363D-7BCD-8B9832061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82" y="1133928"/>
            <a:ext cx="5366578" cy="38009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</a:rPr>
              <a:t>Etap 4 – Trendy emisji w wybranych krajach</a:t>
            </a:r>
            <a:endParaRPr lang="en-US" sz="2200"/>
          </a:p>
        </p:txBody>
      </p:sp>
      <p:sp>
        <p:nvSpPr>
          <p:cNvPr id="7" name="Text 4"/>
          <p:cNvSpPr/>
          <p:nvPr/>
        </p:nvSpPr>
        <p:spPr>
          <a:xfrm>
            <a:off x="457200" y="4801389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FEDF76-F343-EC36-C74E-AAA0CE0C1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57" y="1029540"/>
            <a:ext cx="8227786" cy="41094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69FE2FE-C73E-620B-66BF-18418EF78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56" y="1003459"/>
            <a:ext cx="8164286" cy="4143509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Etap 4 – Struktura źródeł emisji CO₂ · Top 6 emitentów (2022)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163BD8-247B-81EA-22A6-85DED6BD8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BA10C1-E9D7-AA27-A524-5C6C50F97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74" y="1006928"/>
            <a:ext cx="6383750" cy="4136572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E292B453-D059-E079-43E3-167536E2B22A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C2FBC8-E4B0-06B0-BC82-D94A541F6371}"/>
              </a:ext>
            </a:extLst>
          </p:cNvPr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rgbClr val="FFFFFF"/>
                </a:solidFill>
              </a:rPr>
              <a:t>Etap</a:t>
            </a:r>
            <a:r>
              <a:rPr lang="en-US" sz="2200" b="1" dirty="0">
                <a:solidFill>
                  <a:srgbClr val="FFFFFF"/>
                </a:solidFill>
              </a:rPr>
              <a:t> 4 – Dashboard </a:t>
            </a:r>
            <a:r>
              <a:rPr lang="en-US" sz="2200" b="1" dirty="0" err="1">
                <a:solidFill>
                  <a:srgbClr val="FFFFFF"/>
                </a:solidFill>
              </a:rPr>
              <a:t>analityczny</a:t>
            </a:r>
            <a:r>
              <a:rPr lang="en-US" sz="2200" b="1" dirty="0">
                <a:solidFill>
                  <a:srgbClr val="FFFFFF"/>
                </a:solidFill>
              </a:rPr>
              <a:t> (</a:t>
            </a:r>
            <a:r>
              <a:rPr lang="en-US" sz="2200" b="1" dirty="0" err="1">
                <a:solidFill>
                  <a:srgbClr val="FFFFFF"/>
                </a:solidFill>
              </a:rPr>
              <a:t>wersja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interaktywna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B4AB6D-20E5-3B98-E4BF-F2B37BC3DD47}"/>
              </a:ext>
            </a:extLst>
          </p:cNvPr>
          <p:cNvSpPr txBox="1"/>
          <p:nvPr/>
        </p:nvSpPr>
        <p:spPr>
          <a:xfrm>
            <a:off x="7202713" y="1306285"/>
            <a:ext cx="1826985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 err="1">
                <a:latin typeface="Calibri"/>
                <a:ea typeface="Calibri"/>
                <a:cs typeface="Calibri"/>
              </a:rPr>
              <a:t>umożliwia</a:t>
            </a:r>
            <a:r>
              <a:rPr lang="en-US" sz="1600" dirty="0"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filtrowanie</a:t>
            </a:r>
            <a:r>
              <a:rPr lang="en-US" sz="1600" dirty="0"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krajów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6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 err="1">
                <a:latin typeface="Calibri"/>
                <a:ea typeface="Calibri"/>
                <a:cs typeface="Calibri"/>
              </a:rPr>
              <a:t>pokazuje</a:t>
            </a:r>
            <a:r>
              <a:rPr lang="en-US" sz="1600" dirty="0"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zależności</a:t>
            </a:r>
            <a:r>
              <a:rPr lang="en-US" sz="1600" dirty="0"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między</a:t>
            </a:r>
            <a:r>
              <a:rPr lang="en-US" sz="1600" dirty="0"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emisjami</a:t>
            </a:r>
            <a:r>
              <a:rPr lang="en-US" sz="1600" dirty="0">
                <a:latin typeface="Calibri"/>
                <a:ea typeface="Calibri"/>
                <a:cs typeface="Calibri"/>
              </a:rPr>
              <a:t>,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energią</a:t>
            </a:r>
            <a:r>
              <a:rPr lang="en-US" sz="1600" dirty="0"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i</a:t>
            </a:r>
            <a:r>
              <a:rPr lang="en-US" sz="1600" dirty="0">
                <a:latin typeface="Calibri"/>
                <a:ea typeface="Calibri"/>
                <a:cs typeface="Calibri"/>
              </a:rPr>
              <a:t> PKB</a:t>
            </a:r>
          </a:p>
          <a:p>
            <a:pPr marL="285750" indent="-285750">
              <a:buFont typeface="Arial"/>
              <a:buChar char="•"/>
            </a:pPr>
            <a:endParaRPr lang="en-US" sz="16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 err="1">
                <a:latin typeface="Calibri"/>
                <a:ea typeface="Calibri"/>
                <a:cs typeface="Calibri"/>
              </a:rPr>
              <a:t>pozwala</a:t>
            </a:r>
            <a:r>
              <a:rPr lang="en-US" sz="1600" dirty="0"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analizować</a:t>
            </a:r>
            <a:r>
              <a:rPr lang="en-US" sz="1600" dirty="0"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dane</a:t>
            </a:r>
            <a:r>
              <a:rPr lang="en-US" sz="1600" dirty="0">
                <a:latin typeface="Calibri"/>
                <a:ea typeface="Calibri"/>
                <a:cs typeface="Calibri"/>
              </a:rPr>
              <a:t> w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trybie</a:t>
            </a:r>
            <a:r>
              <a:rPr lang="en-US" sz="1600" dirty="0"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interaktywnym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5101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Wnioski końcowe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📈 Niepokojący trend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3502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E8"/>
                </a:solidFill>
              </a:rPr>
              <a:t>Emisje rosły nieprzerwanie od 1990 (+539 Mt/rok). Dwie chwilowe przerwy – kryzysy 2009 i 2020 – nie zmieniły długoterminowej trajektorii.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💰 PKB a emisje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9514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E8"/>
                </a:solidFill>
              </a:rPr>
              <a:t>Korelacja emisji per capita z PKB (r=0.82) wskazuje, że wzrost gospodarczy nadal jest sprzężony z emisjami – ale wyjątki (Skandynawia) dowodzą, że dekarbonizacja jest możliwa.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🌱 Segmentacja krajów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25526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E8"/>
                </a:solidFill>
              </a:rPr>
              <a:t>K-Means wyodrębnił 4 grupy: petrostate (klaster 3) emitują 20+ t/os., kraje rozwijające się (klaster 1) &lt; 1 t/os. Dysproporcja wymaga zróżnicowanej polityki klimatycznej.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⚠️ Ograniczenia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21538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E8"/>
                </a:solidFill>
              </a:rPr>
              <a:t>Regresja liniowa upraszcza nielinearną dynamikę. Braki danych dla małych krajów (46%) mogą zniekształcać obraz globalny. Analiza przekrojowa nie zastępuje analizy panelowej.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4200" b="1" dirty="0" err="1">
                <a:solidFill>
                  <a:srgbClr val="FFFFFF"/>
                </a:solidFill>
              </a:rPr>
              <a:t>Dziękujemy</a:t>
            </a:r>
            <a:r>
              <a:rPr lang="en-US" sz="4200" b="1" dirty="0">
                <a:solidFill>
                  <a:srgbClr val="FFFFFF"/>
                </a:solidFill>
              </a:rPr>
              <a:t> za </a:t>
            </a:r>
            <a:r>
              <a:rPr lang="en-US" sz="4200" b="1" dirty="0" err="1">
                <a:solidFill>
                  <a:srgbClr val="FFFFFF"/>
                </a:solidFill>
              </a:rPr>
              <a:t>uwagę</a:t>
            </a:r>
            <a:endParaRPr lang="en-US" sz="4200" dirty="0" err="1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2C39A"/>
                </a:solidFill>
              </a:rPr>
              <a:t>Pytania i dyskusja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3108960"/>
            <a:ext cx="45720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3375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Dane: </a:t>
            </a:r>
            <a:r>
              <a:rPr lang="en-US" sz="1100" dirty="0">
                <a:solidFill>
                  <a:srgbClr val="B8D4E8"/>
                </a:solidFill>
              </a:rPr>
              <a:t>Our World in Data (owid-co2-data.csv) · CC BY 4.0
</a:t>
            </a:r>
            <a:r>
              <a:rPr lang="en-US" sz="1100" b="1" dirty="0">
                <a:solidFill>
                  <a:srgbClr val="02C39A"/>
                </a:solidFill>
              </a:rPr>
              <a:t>Narzędzia: </a:t>
            </a:r>
            <a:r>
              <a:rPr lang="en-US" sz="1100" dirty="0">
                <a:solidFill>
                  <a:srgbClr val="B8D4E8"/>
                </a:solidFill>
              </a:rPr>
              <a:t>Python · pandas · NumPy · scikit-learn · matplotlib · seaborn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44348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 emisji CO₂ i zużycia energii na świecie</dc:title>
  <dc:subject>PptxGenJS Presentation</dc:subject>
  <dc:creator>Projekt zaliczeniowy</dc:creator>
  <cp:lastModifiedBy>Projekt zaliczeniowy</cp:lastModifiedBy>
  <cp:revision>256</cp:revision>
  <dcterms:created xsi:type="dcterms:W3CDTF">2026-06-11T22:07:39Z</dcterms:created>
  <dcterms:modified xsi:type="dcterms:W3CDTF">2026-06-12T21:27:39Z</dcterms:modified>
</cp:coreProperties>
</file>